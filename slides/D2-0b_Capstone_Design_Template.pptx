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spc="300">
                <a:solidFill>
                  <a:srgbClr val="E08A57"/>
                </a:solidFill>
                <a:latin typeface="Helvetica Neue"/>
              </a:rPr>
              <a:t>ELELEM CHILE 2026 ·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94944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Team &lt;name&gt;: &lt;your system&gt;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D8CFC4"/>
                </a:solidFill>
                <a:latin typeface="Helvetica Neue"/>
              </a:rPr>
              <a:t>&lt;scenario A / B / C / D&gt; · &lt;one-line problem&gt;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Helvetica Neue"/>
              </a:rPr>
              <a:t>&lt;team members&gt;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8CFC4"/>
                </a:solidFill>
                <a:latin typeface="Helvetica Neue"/>
              </a:rPr>
              <a:t>&lt;their organisations&gt;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00">
                <a:solidFill>
                  <a:srgbClr val="FFFFFF"/>
                </a:solidFill>
                <a:latin typeface="Helvetica Neue"/>
              </a:rPr>
              <a:t>ELELEM · EPOCH TOUR · CHILE   |   CAPSTONE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pic>
        <p:nvPicPr>
          <p:cNvPr id="5" name="Picture 4" descr="epoch_tour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84048"/>
            <a:ext cx="457200" cy="45720"/>
          </a:xfrm>
          <a:prstGeom prst="rect">
            <a:avLst/>
          </a:prstGeom>
          <a:solidFill>
            <a:srgbClr val="C8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250">
                <a:solidFill>
                  <a:srgbClr val="C8693A"/>
                </a:solidFill>
                <a:latin typeface="Helvetica Neue"/>
              </a:rPr>
              <a:t>1 · TEAM AND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E1C24"/>
                </a:solidFill>
                <a:latin typeface="Helvetica Neue"/>
              </a:rPr>
              <a:t>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The problem in one sentence: who has it, and what the system does about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94960" cy="338328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Users: who they are, how many, how they reach the system (web, WhatsApp, internal tool …).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94960" cy="338328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Three real requests a user would make — design for these:
1.
2.
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00">
                <a:solidFill>
                  <a:srgbClr val="FFFFFF"/>
                </a:solidFill>
                <a:latin typeface="Helvetica Neue"/>
              </a:rPr>
              <a:t>ELELEM · EPOCH TOUR · CHILE   |   CAPSTONE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pic>
        <p:nvPicPr>
          <p:cNvPr id="5" name="Picture 4" descr="epoch_tour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84048"/>
            <a:ext cx="457200" cy="45720"/>
          </a:xfrm>
          <a:prstGeom prst="rect">
            <a:avLst/>
          </a:prstGeom>
          <a:solidFill>
            <a:srgbClr val="C8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250">
                <a:solidFill>
                  <a:srgbClr val="C8693A"/>
                </a:solidFill>
                <a:latin typeface="Helvetica Neue"/>
              </a:rPr>
              <a:t>2 · ARCHITECTURE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E1C24"/>
                </a:solidFill>
                <a:latin typeface="Helvetica Neue"/>
              </a:rPr>
              <a:t>Our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87952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1C24"/>
                </a:solidFill>
                <a:latin typeface="Helvetica Neue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334256"/>
            <a:ext cx="3520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470"/>
                </a:solidFill>
                <a:latin typeface="Helvetica Neue"/>
              </a:rPr>
              <a:t>one call, no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75304"/>
            <a:ext cx="48006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1C24"/>
                </a:solidFill>
                <a:latin typeface="Helvetica Neue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372160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470"/>
                </a:solidFill>
                <a:latin typeface="Helvetica Neue"/>
              </a:rPr>
              <a:t>fixed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19" y="2962656"/>
            <a:ext cx="4480559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1C24"/>
                </a:solidFill>
                <a:latin typeface="Helvetica Neue"/>
              </a:rPr>
              <a:t>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108960"/>
            <a:ext cx="28803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470"/>
                </a:solidFill>
                <a:latin typeface="Helvetica Neue"/>
              </a:rPr>
              <a:t>retrieve, then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2350008"/>
            <a:ext cx="4160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1C24"/>
                </a:solidFill>
                <a:latin typeface="Helvetica Neue"/>
              </a:rPr>
              <a:t>Single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96312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470"/>
                </a:solidFill>
                <a:latin typeface="Helvetica Neue"/>
              </a:rPr>
              <a:t>the model picks tools in a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737360"/>
            <a:ext cx="3840479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1C24"/>
                </a:solidFill>
                <a:latin typeface="Helvetica Neue"/>
              </a:rPr>
              <a:t>Multi-agent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883664"/>
            <a:ext cx="22402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6470"/>
                </a:solidFill>
                <a:latin typeface="Helvetica Neue"/>
              </a:rPr>
              <a:t>several agents hand off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6470"/>
                </a:solidFill>
                <a:latin typeface="Helvetica Neue"/>
              </a:rPr>
              <a:t>Colour the rung you chose.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737360"/>
            <a:ext cx="5577840" cy="105156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The decision: … (prompt / pipeline / RAG / single agent / multi-agent)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880360"/>
            <a:ext cx="5577840" cy="105156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Why not one rung simpler? What would break.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023360"/>
            <a:ext cx="5577840" cy="105156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Why not one rung fancier? What it would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5166360"/>
            <a:ext cx="5577840" cy="114300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The failure mode this architecture guards against.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00">
                <a:solidFill>
                  <a:srgbClr val="FFFFFF"/>
                </a:solidFill>
                <a:latin typeface="Helvetica Neue"/>
              </a:rPr>
              <a:t>ELELEM · EPOCH TOUR · CHILE   |   CAPSTONE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pic>
        <p:nvPicPr>
          <p:cNvPr id="5" name="Picture 4" descr="epoch_tour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84048"/>
            <a:ext cx="457200" cy="45720"/>
          </a:xfrm>
          <a:prstGeom prst="rect">
            <a:avLst/>
          </a:prstGeom>
          <a:solidFill>
            <a:srgbClr val="C8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250">
                <a:solidFill>
                  <a:srgbClr val="C8693A"/>
                </a:solidFill>
                <a:latin typeface="Helvetica Neue"/>
              </a:rPr>
              <a:t>3 · ARCHITECTURE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E1C24"/>
                </a:solidFill>
                <a:latin typeface="Helvetica Neue"/>
              </a:rPr>
              <a:t>Components and data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7863840" cy="457200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Diagram: user → … → answer. Boxes for components (LLM calls, tools, data stores, humans), arrows for the flow. A photo of a whiteboard is fine.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737360"/>
            <a:ext cx="2926080" cy="457200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One request, step by step:
1.
2.
3.
4.
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00">
                <a:solidFill>
                  <a:srgbClr val="FFFFFF"/>
                </a:solidFill>
                <a:latin typeface="Helvetica Neue"/>
              </a:rPr>
              <a:t>ELELEM · EPOCH TOUR · CHILE   |   CAPSTONE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pic>
        <p:nvPicPr>
          <p:cNvPr id="5" name="Picture 4" descr="epoch_tour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84048"/>
            <a:ext cx="457200" cy="45720"/>
          </a:xfrm>
          <a:prstGeom prst="rect">
            <a:avLst/>
          </a:prstGeom>
          <a:solidFill>
            <a:srgbClr val="C8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250">
                <a:solidFill>
                  <a:srgbClr val="C8693A"/>
                </a:solidFill>
                <a:latin typeface="Helvetica Neue"/>
              </a:rPr>
              <a:t>4 · TECHNICAL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E1C24"/>
                </a:solidFill>
                <a:latin typeface="Helvetica Neue"/>
              </a:rPr>
              <a:t>Concrete choices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64240" cy="466344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4572000"/>
                <a:gridCol w="3931920"/>
              </a:tblGrid>
              <a:tr h="777240"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Our choice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Models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Knowledge and retrieval</a:t>
                      </a:r>
                    </a:p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Tools (name → output)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Memory and state</a:t>
                      </a:r>
                    </a:p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Guardrails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00">
                <a:solidFill>
                  <a:srgbClr val="FFFFFF"/>
                </a:solidFill>
                <a:latin typeface="Helvetica Neue"/>
              </a:rPr>
              <a:t>ELELEM · EPOCH TOUR · CHILE   |   CAPSTONE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pic>
        <p:nvPicPr>
          <p:cNvPr id="5" name="Picture 4" descr="epoch_tour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84048"/>
            <a:ext cx="457200" cy="45720"/>
          </a:xfrm>
          <a:prstGeom prst="rect">
            <a:avLst/>
          </a:prstGeom>
          <a:solidFill>
            <a:srgbClr val="C8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250">
                <a:solidFill>
                  <a:srgbClr val="C8693A"/>
                </a:solidFill>
                <a:latin typeface="Helvetica Neue"/>
              </a:rPr>
              <a:t>5 · EVALUATION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E1C24"/>
                </a:solidFill>
                <a:latin typeface="Helvetica Neue"/>
              </a:rPr>
              <a:t>How we will know it works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64240" cy="3657600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3200400"/>
                <a:gridCol w="27432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Test cases (what kind, how many)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Pass bar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When do you run it? (every prompt change, every model change, nightly …) What would make it pass while the system is wrong?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00">
                <a:solidFill>
                  <a:srgbClr val="FFFFFF"/>
                </a:solidFill>
                <a:latin typeface="Helvetica Neue"/>
              </a:rPr>
              <a:t>ELELEM · EPOCH TOUR · CHILE   |   CAPSTONE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6019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pic>
        <p:nvPicPr>
          <p:cNvPr id="5" name="Picture 4" descr="epoch_tour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84048"/>
            <a:ext cx="457200" cy="45720"/>
          </a:xfrm>
          <a:prstGeom prst="rect">
            <a:avLst/>
          </a:prstGeom>
          <a:solidFill>
            <a:srgbClr val="C86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250">
                <a:solidFill>
                  <a:srgbClr val="C8693A"/>
                </a:solidFill>
                <a:latin typeface="Helvetica Neue"/>
              </a:rPr>
              <a:t>6 · COST, LATENCY AND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E1C24"/>
                </a:solidFill>
                <a:latin typeface="Helvetica Neue"/>
              </a:rPr>
              <a:t>The numbers and the 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12000"/>
            </a:avLst>
          </a:prstGeom>
          <a:solidFill>
            <a:srgbClr val="FBF5EE"/>
          </a:solidFill>
          <a:ln w="15875">
            <a:solidFill>
              <a:srgbClr val="D9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0">
                <a:solidFill>
                  <a:srgbClr val="6B6470"/>
                </a:solidFill>
                <a:latin typeface="Helvetica Neue"/>
              </a:rPr>
              <a:t>Cost: tokens per request (in / out) × requests per month × price = $ per month.
Latency: LLM calls and tool calls per request → seconds the user waits.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37360"/>
          <a:ext cx="5394960" cy="438912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017520"/>
              </a:tblGrid>
              <a:tr h="10972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Top risk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What we do about it</a:t>
                      </a:r>
                    </a:p>
                  </a:txBody>
                  <a:tcPr marL="73152" marR="73152" marT="36576" marB="36576" anchor="ctr">
                    <a:solidFill>
                      <a:srgbClr val="1E1C24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1.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2.</a:t>
                      </a:r>
                    </a:p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BF5EE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1C24"/>
                          </a:solidFill>
                          <a:latin typeface="Helvetica Neue"/>
                        </a:rPr>
                        <a:t>3.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